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237744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4160520"/>
            <a:ext cx="384048" cy="1737360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66960" y="3840480"/>
            <a:ext cx="384048" cy="20574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69880" y="3520439"/>
            <a:ext cx="384048" cy="2377439"/>
          </a:xfrm>
          <a:prstGeom prst="rect">
            <a:avLst/>
          </a:prstGeom>
          <a:solidFill>
            <a:srgbClr val="27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3566160"/>
            <a:ext cx="384048" cy="2331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E8"/>
                </a:solidFill>
                <a:latin typeface="Segoe UI Semibold"/>
              </a:rPr>
              <a:t>RAPPORT D'ANALYSE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8412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i="0">
                <a:solidFill>
                  <a:srgbClr val="F2F6FC"/>
                </a:solidFill>
                <a:latin typeface="Segoe UI Semibold"/>
              </a:rPr>
              <a:t>Architecture et fonctionnement</a:t>
            </a:r>
          </a:p>
          <a:p>
            <a:pPr algn="l">
              <a:lnSpc>
                <a:spcPct val="106000"/>
              </a:lnSpc>
            </a:pPr>
            <a:r>
              <a:rPr sz="4000" b="1" i="0">
                <a:solidFill>
                  <a:srgbClr val="F2F6FC"/>
                </a:solidFill>
                <a:latin typeface="Segoe UI Semibold"/>
              </a:rPr>
              <a:t>de l'application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10128"/>
            <a:ext cx="1371600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B2CC"/>
                </a:solidFill>
                <a:latin typeface="Segoe UI Light"/>
              </a:rPr>
              <a:t>Analyse du flux  GLPI → Layer 1 → Layer 2 → Layer 3 → Layer 4 → Layer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389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GlpiInteligence — Sartex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914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PÉRIMÈTRE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79145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5 couches · 9 services · 98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RÉFÉRENTIEL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937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branche main · commit 62ca64f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59612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13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POURQUOI CE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Contexte et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3520440" cy="2084831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81328"/>
            <a:ext cx="50292" cy="2084831"/>
          </a:xfrm>
          <a:prstGeom prst="rect">
            <a:avLst/>
          </a:prstGeom>
          <a:solidFill>
            <a:srgbClr val="74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627632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488A6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1847088"/>
            <a:ext cx="3136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Le contexte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157984"/>
            <a:ext cx="3136392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GLPI est l'outil opérationnel de gestion des tickets du support informatique.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Il enregistre tout, mais ne dit ni pourquoi les incidents se répètent, ni où la charge va se porter demain.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481328"/>
            <a:ext cx="3520440" cy="2084831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481328"/>
            <a:ext cx="50292" cy="2084831"/>
          </a:xfrm>
          <a:prstGeom prst="rect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627632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5B14C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847088"/>
            <a:ext cx="3136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Le problème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157984"/>
            <a:ext cx="3136392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Aucune vision consolidée du parc.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Aucune anticipation des pics de volume ni des risques de dépassement de SLA.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Les causes racines récurrentes restent invisibles dans le texte des tickets.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481328"/>
            <a:ext cx="3383280" cy="2084831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481328"/>
            <a:ext cx="50292" cy="2084831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62763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47088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L'objectif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157984"/>
            <a:ext cx="2999232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Construire, au-dessus de GLPI et sans le modifier, un pipeline qui centralise, analyse, prédit et recommande — restitué dans un tableau de bord temps réel pour la DSI.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22191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RÉSULTATS ATTENDUS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9663"/>
            <a:ext cx="2048256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34256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Entrepôt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63440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Toutes les données GLPI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consolidées et enrichies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98648" y="4169663"/>
            <a:ext cx="2048256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4334256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Profils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1528" y="4663440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4 profils de demandeurs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classés automatiquement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1496" y="4169663"/>
            <a:ext cx="2048256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94376" y="4334256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Prévisions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4376" y="4663440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Volume à 72 h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Risque SLA à 48 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24344" y="4169663"/>
            <a:ext cx="2048256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7224" y="4334256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Causes racines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4663440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Regroupement NLP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des tickets similaires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37192" y="4169663"/>
            <a:ext cx="2048256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0072" y="4334256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Recommandations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4663440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4 types d'actions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chiffrées pour la DSI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650992"/>
            <a:ext cx="10607040" cy="475488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2F6FC"/>
                </a:solidFill>
                <a:latin typeface="Segoe UI"/>
              </a:rPr>
              <a:t>Principe fondateur  ·  le pipeline lit GLPI, ne l'écrit jamais  —  GLPI reste le système opérationnel de référence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DIAGRAMME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Vue globale de l'architecture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371600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27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481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GLPI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17373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SYSTÈME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72768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2F6FC"/>
                </a:solidFill>
                <a:latin typeface="Segoe UI"/>
              </a:rPr>
              <a:t>API REST  ·  Tickets, Users, Entities, ITILCategory, Group, ITILFollowup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35040" y="1988820"/>
            <a:ext cx="137160" cy="128016"/>
          </a:xfrm>
          <a:prstGeom prst="down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2130552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03120" y="2130552"/>
            <a:ext cx="50292" cy="603504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D9E8"/>
                </a:solidFill>
                <a:latin typeface="Segoe UI Semibold"/>
              </a:rPr>
              <a:t>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249631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glpi_connector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33172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2CC"/>
                </a:solidFill>
                <a:latin typeface="Segoe UI"/>
              </a:rPr>
              <a:t>GLPIClient (session · réessais · pagination)  +  6 extracteurs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35040" y="2747772"/>
            <a:ext cx="137160" cy="128016"/>
          </a:xfrm>
          <a:prstGeom prst="down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03120" y="2889504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3120" y="2889504"/>
            <a:ext cx="50292" cy="603504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0864" y="29992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D9E8"/>
                </a:solidFill>
                <a:latin typeface="Segoe UI Semibold"/>
              </a:rPr>
              <a:t>LAYER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325526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090672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2CC"/>
                </a:solidFill>
                <a:latin typeface="Segoe UI"/>
              </a:rPr>
              <a:t>Airflow 10 min  ·  Celery  ·  pandas  →  PostgreSQL  dim_* + fact_kpis_daily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35040" y="3506724"/>
            <a:ext cx="137160" cy="128016"/>
          </a:xfrm>
          <a:prstGeom prst="down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3648456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3648456"/>
            <a:ext cx="50292" cy="603504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864" y="37581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D9E8"/>
                </a:solidFill>
                <a:latin typeface="Segoe UI Semibold"/>
              </a:rPr>
              <a:t>LAYER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0864" y="401421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ml_engine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849624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2CC"/>
                </a:solidFill>
                <a:latin typeface="Segoe UI"/>
              </a:rPr>
              <a:t>RandomForest · Prophet · XGBoost · DBSCAN + règles YAML  →  ml_* + recommendations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035040" y="4265676"/>
            <a:ext cx="137160" cy="128016"/>
          </a:xfrm>
          <a:prstGeom prst="down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03120" y="4407408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03120" y="4407408"/>
            <a:ext cx="50292" cy="603504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45171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D9E8"/>
                </a:solidFill>
                <a:latin typeface="Segoe UI Semibold"/>
              </a:rPr>
              <a:t>LAYER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0864" y="477316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608576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2CC"/>
                </a:solidFill>
                <a:latin typeface="Segoe UI"/>
              </a:rPr>
              <a:t>FastAPI async  ·  JWT + rôles  ·  cache Redis  ·  REST + WebSocket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035040" y="5024628"/>
            <a:ext cx="137160" cy="128016"/>
          </a:xfrm>
          <a:prstGeom prst="down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03120" y="5166360"/>
            <a:ext cx="8001000" cy="60350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03120" y="5166360"/>
            <a:ext cx="50292" cy="603504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0864" y="5276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D9E8"/>
                </a:solidFill>
                <a:latin typeface="Segoe UI Semibold"/>
              </a:rPr>
              <a:t>LAYER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0864" y="55321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5367528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FB2CC"/>
                </a:solidFill>
                <a:latin typeface="Segoe UI"/>
              </a:rPr>
              <a:t>Angular 17  ·  7 onglets  ·  Chart.js  ·  alertes temps réel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984248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REST  ·  App-Token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+ Session-Token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74320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list[dict]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en mémoire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350215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base glpi_dw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(pas d'appel réseau)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4261104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base glpi_dw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(pas d'appel réseau)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502005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HTTP JSON + WS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7488A6"/>
                </a:solidFill>
                <a:latin typeface="Segoe UI"/>
              </a:rPr>
              <a:t>Bearer JWT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444752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FLUX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DESCENDANT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F6FC"/>
                </a:solidFill>
                <a:latin typeface="Segoe UI Semibold"/>
              </a:rPr>
              <a:t>UNIQUE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87168"/>
            <a:ext cx="129844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Chaque couche ne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connaît que son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amont immédiat.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Aucune couche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n'appelle en retour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celle qui la précède.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AMONT DU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GLPI — le système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5257800" cy="22128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81328"/>
            <a:ext cx="50292" cy="2212848"/>
          </a:xfrm>
          <a:prstGeom prst="rect">
            <a:avLst/>
          </a:prstGeom>
          <a:solidFill>
            <a:srgbClr val="27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62763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Rôle de GLPI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1938528"/>
            <a:ext cx="4873752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Outil ITSM opérationnel où les tickets sont réellement créés, affectés et résolus par les équipes support.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Le pipeline le consomme en lecture seule via son API REST : aucune écriture n'est effectuée par les Layers 1 à 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81328"/>
            <a:ext cx="5120640" cy="22128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81328"/>
            <a:ext cx="50292" cy="22128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27632"/>
            <a:ext cx="4736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6FC"/>
                </a:solidFill>
                <a:latin typeface="Segoe UI Semibold"/>
              </a:rPr>
              <a:t>Mode de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938528"/>
            <a:ext cx="4736592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Protocole  ·  HTTP/HTTPS, méthode GET exclusivement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Endpoints  ·  /initSession · /search/{itemtype} · /{itemtype} · /killSession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Auth  ·  App-Token + User-Token, puis Session-Token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9FB2CC"/>
                </a:solidFill>
                <a:latin typeface="Segoe UI"/>
              </a:rPr>
              <a:t>Format  ·  JSON  ·  pagination par range=a-b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DONNÉES FOURNIES À LA LAYER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19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/search + forcedisplay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7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demandeurs &amp; techniciens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5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ITILCategory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4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arbre de catégories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5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services / départements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4279392"/>
            <a:ext cx="1691640" cy="10789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7504" y="444398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D9E8"/>
                </a:solidFill>
                <a:latin typeface="Segoe UI Semibold"/>
              </a:rPr>
              <a:t>ITILFollowup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4736592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7 champs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suivis de tickets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59552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2F6FC"/>
                </a:solidFill>
                <a:latin typeface="Segoe UI"/>
              </a:rPr>
              <a:t>Point d'attention  ·  /search/Ticket renvoie des libellés d'affichage (« Root entity &gt; Usine A ») et non des identifiants — la Layer 2 les reconvertit contre les tables de dimensions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COUCHE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Layer 1 — Extraction  ·  glpi_connector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2CC"/>
                </a:solidFill>
                <a:latin typeface="Segoe UI"/>
              </a:rPr>
              <a:t>Extraire de façon fiable et paginée les données GLPI, et produire des dictionnaires Python à noms de champs lisibles. Seule couche en contact avec GLPI.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237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client.py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GLPIClient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72384"/>
            <a:ext cx="224942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Cycle de session (initSession / killSession comme gestionnaire de contexte), pagination, réessais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23774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5237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extractors.py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761488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6 extracteurs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072384"/>
            <a:ext cx="224942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TICKET_FIELD_MAP traduit 19 identifiants d'options GLPI en noms lisibles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3774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5237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config.py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761488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GLPIConfig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72384"/>
            <a:ext cx="224942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Configuration validée depuis l'environnement — 3 secrets obligatoires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23774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5237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exceptions.py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761488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5 exceptions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3072384"/>
            <a:ext cx="224942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GLPIAPIError, GLPIAuthError, GLPISessionExpired, GLPIRateLimited, GLPIUnavailable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96512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096512"/>
            <a:ext cx="3456432" cy="45720"/>
          </a:xfrm>
          <a:prstGeom prst="rect">
            <a:avLst/>
          </a:prstGeom>
          <a:solidFill>
            <a:srgbClr val="74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79392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488A6"/>
                </a:solidFill>
                <a:latin typeface="Segoe UI Semibold"/>
              </a:rPr>
              <a:t>ENTRÉE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Variables d'environnement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GLPI_BASE_URL · APP_TOKEN · USER_TOKEN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Réponses JSON de l'API GLPI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0520" y="4713732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15968" y="4096512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4096512"/>
            <a:ext cx="3456432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279392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TRAITEMENT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57200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Ouverture de session → pagination /search avec forcedisplay →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remappage des identifiants d'options → fermeture de session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790688" y="4713732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46136" y="4096512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46136" y="4096512"/>
            <a:ext cx="3456432" cy="45720"/>
          </a:xfrm>
          <a:prstGeom prst="rect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9016" y="4279392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D19B"/>
                </a:solidFill>
                <a:latin typeface="Segoe UI Semibold"/>
              </a:rPr>
              <a:t>SORTIE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457200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list[dict] à clés lisibles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id · name · status · priority ·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itilcategories_id · date · 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632704"/>
            <a:ext cx="10607040" cy="512064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6FC"/>
                </a:solidFill>
                <a:latin typeface="Segoe UI"/>
              </a:rPr>
              <a:t>Robustesse  ·  3 tentatives à délai exponentiel  ·  réouverture transparente de session sur 401  ·  429 et 5xx rejoués  ·  pagination avancée par le nombre réel de lignes reçues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COUCHE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Layer 2 — Transformation  ·  etl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2CC"/>
                </a:solidFill>
                <a:latin typeface="Segoe UI"/>
              </a:rPr>
              <a:t>Ingestion toutes les 10 minutes orchestrée par Airflow, traitements lourds délégués à Celery, chargement idempotent dans l'entrepôt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176272"/>
            <a:ext cx="310896" cy="310896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A162E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2128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EXTRAIRE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151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3 tâches Airflow parallèles :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tickets · dimensions · suivis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19272" y="2628900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8144" y="20116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2176272"/>
            <a:ext cx="310896" cy="310896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A162E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2128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6151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TicketTransformer (pandas)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4 colonnes dérivées + 4 KPI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71616" y="2628900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0488" y="20116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2176272"/>
            <a:ext cx="310896" cy="310896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A162E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22128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RÉSOUDRE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6151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Libellés GLPI → identifiants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contre les dimensions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628900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42832" y="20116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5712" y="2176272"/>
            <a:ext cx="310896" cy="310896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A162E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212848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E8"/>
                </a:solidFill>
                <a:latin typeface="Segoe UI Semibold"/>
              </a:rPr>
              <a:t>CHARGER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151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Upsert via tables de staging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ON CONFLICT DO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56616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TECHNOLOGIES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840480"/>
            <a:ext cx="1545336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Apache Airflow 2.9.3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15134" y="3840480"/>
            <a:ext cx="681299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Celery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62727" y="3840480"/>
            <a:ext cx="630900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Redis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62171" y="3840480"/>
            <a:ext cx="733770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pandas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35" y="3840480"/>
            <a:ext cx="1053881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SQLAlchemy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224528"/>
            <a:ext cx="877788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psycopg2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20774" y="4224528"/>
            <a:ext cx="1177218" cy="31089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2F6FC"/>
                </a:solidFill>
                <a:latin typeface="Segoe UI"/>
              </a:rPr>
              <a:t>PostgreSQL 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8172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D19B"/>
                </a:solidFill>
                <a:latin typeface="Segoe UI Semibold"/>
              </a:rPr>
              <a:t>SORTIE — ENTREPÔT glpi_dw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dim_tickets_enriched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table de faits · 23 colonnes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dim_users / dim_entities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53035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dimensions de référence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1441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dim_categories / dim_groups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61441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dimensions de référence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25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fact_kpis_daily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59253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agrégat quotidien · 4 KPI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3602736"/>
            <a:ext cx="4937760" cy="2523744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 w="11430">
            <a:solidFill>
              <a:srgbClr val="38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3785615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LE POINT TECHNIQUE CLÉ DE LA COUCHE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096512"/>
            <a:ext cx="4480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GLPI renvoie « Root entity &gt; Usine A » là où l'entrepôt attend un BIGINT.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1.  La transformation conserve le libellé dans une colonne _display et met l'identifiant à NA.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2.  Le chargement reconstruit un dictionnaire libellé → identifiant depuis les dimensions, en indexant plusieurs orthographes.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Conséquence : les dimensions doivent impérativement être chargées AVANT les tickets.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COUCHE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Layer 3 — Intelligence  ·  ml_engine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2CC"/>
                </a:solidFill>
                <a:latin typeface="Segoe UI"/>
              </a:rPr>
              <a:t>Quatre familles de modèles appliquées à l'entrepôt, puis un moteur de règles qui convertit les prédictions en recommandations actionnables pour la DSI.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93392"/>
            <a:ext cx="2615184" cy="21396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93392"/>
            <a:ext cx="2615184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Profils demandeurs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5B14C"/>
                </a:solidFill>
                <a:latin typeface="Segoe UI Semibold"/>
              </a:rPr>
              <a:t>RandomForest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autonome · standard ·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dependant · critique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9 variables comportementales,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étiquettes amorcées par règles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1993392"/>
            <a:ext cx="2615184" cy="21396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1993392"/>
            <a:ext cx="2615184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15798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3.2a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39572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Volume à 72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724912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5B14C"/>
                </a:solidFill>
                <a:latin typeface="Segoe UI Semibold"/>
              </a:rPr>
              <a:t>Prophet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3200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1 modèle par catégorie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du 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36576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Repli sur moyenne glissante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si série trop courte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993392"/>
            <a:ext cx="2615184" cy="21396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1993392"/>
            <a:ext cx="2615184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15798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3.2b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39572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Risque SLA à 48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724912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5B14C"/>
                </a:solidFill>
                <a:latin typeface="Segoe UI Semibold"/>
              </a:rPr>
              <a:t>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200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1 score par technicien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6576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Repli sur le taux historique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si classe unique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1993392"/>
            <a:ext cx="2615184" cy="21396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42832" y="1993392"/>
            <a:ext cx="2615184" cy="4572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215798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3.3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395728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Causes racines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2724912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5B14C"/>
                </a:solidFill>
                <a:latin typeface="Segoe UI Semibold"/>
              </a:rPr>
              <a:t>spaCy + embeddings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5B14C"/>
                </a:solidFill>
                <a:latin typeface="Segoe UI Semibold"/>
              </a:rPr>
              <a:t>+ DBSCAN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200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Clusters de tickets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similaires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36576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Mots-clés TF-IDF, sévérité,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analyse de sentiment FR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315968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805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3.4  MOTEUR DE RECOMMANDATIONS  ·  seuils dans rules.yaml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28032"/>
            <a:ext cx="15179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B14C"/>
                </a:solidFill>
                <a:latin typeface="Segoe UI Semibold"/>
              </a:rPr>
              <a:t>FORMATION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84064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profil critique + 80 % des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incidents sur 2 catégories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96312" y="4828032"/>
            <a:ext cx="15179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7A7A"/>
                </a:solidFill>
                <a:latin typeface="Segoe UI Semibold"/>
              </a:rPr>
              <a:t>SURCHARGE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96312" y="5084064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pic prévu &gt; 1,5 × moyenne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et SLA équipe &lt; 90 %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78224" y="4828032"/>
            <a:ext cx="15179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7A7A"/>
                </a:solidFill>
                <a:latin typeface="Segoe UI Semibold"/>
              </a:rPr>
              <a:t>CAUSE_RACINE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224" y="5084064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cluster ≥ 100 tickets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sur 30 jours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0136" y="4828032"/>
            <a:ext cx="15179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AUTOMATISATION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0136" y="5084064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plus de 30 tickets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répétitifs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4315968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MLflow  ·  registre de modèles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7731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Réentraînement hebdomadaire.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Promotion en Production seulement si la métrique principale s'améliore.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L'inférence charge toujours la version Production.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5870448"/>
            <a:ext cx="106070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88873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D19B"/>
                </a:solidFill>
                <a:latin typeface="Segoe UI Semibold"/>
              </a:rPr>
              <a:t>Sortie  →  ml_user_profiles · ml_forecasts · ml_sla_risk · ml_clusters ·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COUCHE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Layer 4 — Service  · 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2CC"/>
                </a:solidFill>
                <a:latin typeface="Segoe UI"/>
              </a:rPr>
              <a:t>Backend FastAPI asynchrone qui sert en lecture l'entrepôt et les résultats ML, sécurisé par JWT et contrôle d'accès par rôle. Il n'écrit jamais dans les tables des Layers 2 et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POINTS D'ENTRÉE EXPOSÉS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GET  /api/overview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2395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Vue d'ensemble · 6 KPI, 4 graphiques, 4 alertes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957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cache 60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GET  /api/{onglet}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81635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demandeurs · services · sites · repetitifs ·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techniciens ·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16352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cache 5 min</a:t>
            </a:r>
          </a:p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(sites, techniciens)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19856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GET  /api/predictions/*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34198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volume (72 h)  ·  sla_risk (48 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GET  /api/recommendations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filtrable par type et sévérité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61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POST /api/recommendations/{id}/acknowledge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42611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acquittement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6110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DSI ·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8172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WS   /ws/alerts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681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flux temps réel des alertes CRITIQUE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817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sondage 10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023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Consolas"/>
              </a:rPr>
              <a:t>GET  /health · /health/db · /metrics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51023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supervision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084831"/>
            <a:ext cx="3657600" cy="1536192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2084831"/>
            <a:ext cx="50292" cy="1536192"/>
          </a:xfrm>
          <a:prstGeom prst="rect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54696" y="2231135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Sécurité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4696" y="2542031"/>
            <a:ext cx="32735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JWT HS256 · accès 30 min · rafraîchissement 7 j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Mots de passe bcrypt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3 rôles : DSI · MANAGER · DIRECTION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Lecture pour tous, acquittement réservé à DSI et MANAGER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749039"/>
            <a:ext cx="3657600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3749039"/>
            <a:ext cx="50292" cy="12984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54696" y="3895343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4696" y="4206239"/>
            <a:ext cx="32735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Cache Redis à deux paliers (60 s / 300 s)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Limitation de débit 100/min anonyme, 300/min authentifié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SQLAlchemy 2.x async + asyncpg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5175504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5240" y="5175504"/>
            <a:ext cx="50292" cy="1005840"/>
          </a:xfrm>
          <a:prstGeom prst="rect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54696" y="5321808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Observabilité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4696" y="5632704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Journaux JSON corrélés par X-Request-ID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Métriques Prometheus  ·  sondes de santé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COUCHE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Layer 5 — Restitution  · 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FB2CC"/>
                </a:solidFill>
                <a:latin typeface="Segoe UI"/>
              </a:rPr>
              <a:t>SPA Angular 17 en composants standalone qui consomme exclusivement l'API du Layer 4. Aucune base de données propre, aucun accès direct aux Layers 1 à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LES SEPT ONGLETS ANALYTIQUES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23160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3774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Vue d'ensemble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957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6 KPI · 4 graphiques · top 4 alertes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807208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7614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Demandeurs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7977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classement + profil ML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91256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1455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6382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volumes et criticité par groupe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575304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52958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478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répartition par entité + part %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959352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91363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Répétitifs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319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clusters NLP et mots-clés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343400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2976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Techniciens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3159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SLA + risque ML à 48 h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727448"/>
            <a:ext cx="182880" cy="18288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68172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Catégories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7000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488A6"/>
                </a:solidFill>
                <a:latin typeface="Segoe UI"/>
              </a:rPr>
              <a:t>volumes, délais, taux de résolution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2048256"/>
            <a:ext cx="4663440" cy="138988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2048256"/>
            <a:ext cx="50292" cy="138988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194560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Pile technique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8856" y="2505456"/>
            <a:ext cx="427939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Angular 17.3 standalone · routes chargées à la demande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Signals Angular + RxJS (pas de magasin NgRx)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Chart.js 4 + ng2-charts 5 · lucide-angular · SweetAlert2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566160"/>
            <a:ext cx="4663440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9400" y="3566160"/>
            <a:ext cx="50292" cy="1298448"/>
          </a:xfrm>
          <a:prstGeom prst="rect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6" y="3712464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Sécurité côté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856" y="4023360"/>
            <a:ext cx="427939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Trois intercepteurs HTTP : jwt (jeton porteur), refresh (renouvellement automatique sur 401), error (toasts)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authGuard protège toutes les routes hors /login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992624"/>
            <a:ext cx="4663440" cy="118872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29400" y="4992624"/>
            <a:ext cx="50292" cy="1188720"/>
          </a:xfrm>
          <a:prstGeom prst="rect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8856" y="5138928"/>
            <a:ext cx="4279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6FC"/>
                </a:solidFill>
                <a:latin typeface="Segoe UI Semibold"/>
              </a:rPr>
              <a:t>Expérience utilisateur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8856" y="5449824"/>
            <a:ext cx="4279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Deux thèmes clair et sombre pilotés par variables CSS · tableaux triables, filtrables, paginés avec export CSV · alertes temps réel en toast + badge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DE LA CRÉATION DU TICKET À L'ALERTE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Flux de données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399032" cy="41148"/>
          </a:xfrm>
          <a:prstGeom prst="rect">
            <a:avLst/>
          </a:prstGeom>
          <a:solidFill>
            <a:srgbClr val="4C8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C8DF6"/>
                </a:solidFill>
                <a:latin typeface="Segoe UI Semibold"/>
              </a:rPr>
              <a:t>GLPI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Ticket créé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priorité 5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catégorie ERP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03120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8568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58568" y="1737360"/>
            <a:ext cx="1399032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Layer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/search/Ticket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→ list[dict]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75888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31336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31336" y="1737360"/>
            <a:ext cx="1399032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Layer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pandas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+ colonnes dérivées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48656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04104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4104" y="1737360"/>
            <a:ext cx="1399032" cy="41148"/>
          </a:xfrm>
          <a:prstGeom prst="rect">
            <a:avLst/>
          </a:prstGeom>
          <a:solidFill>
            <a:srgbClr val="4C8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C8DF6"/>
                </a:solidFill>
                <a:latin typeface="Segoe UI Semibold"/>
              </a:rPr>
              <a:t>STOCKAGE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2976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dim_tickets_enriched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FK résolues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21424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76872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76872" y="1737360"/>
            <a:ext cx="1399032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5744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TRAITEMENT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Layer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4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4 modèles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+ règles YAML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394192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49640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49640" y="1737360"/>
            <a:ext cx="1399032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68512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Layer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8512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REST + WebSocket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cache Redis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966960" y="2409444"/>
            <a:ext cx="137160" cy="137160"/>
          </a:xfrm>
          <a:prstGeom prst="rightArrow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22408" y="1737360"/>
            <a:ext cx="1399032" cy="148132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22408" y="1737360"/>
            <a:ext cx="1399032" cy="41148"/>
          </a:xfrm>
          <a:prstGeom prst="rect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188366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5AD19B"/>
                </a:solidFill>
                <a:latin typeface="Segoe UI Semibold"/>
              </a:rPr>
              <a:t>CONSOMMATION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2340864"/>
            <a:ext cx="1161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F6FC"/>
                </a:solidFill>
                <a:latin typeface="Segoe UI Semibold"/>
              </a:rPr>
              <a:t>Layer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633472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onglets + alerte</a:t>
            </a:r>
          </a:p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temps réel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352958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CHRONOLOGIE RÉELLE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041648"/>
            <a:ext cx="10607040" cy="3200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5800" y="3968496"/>
            <a:ext cx="201168" cy="201168"/>
          </a:xfrm>
          <a:prstGeom prst="ellipse">
            <a:avLst/>
          </a:prstGeom>
          <a:solidFill>
            <a:srgbClr val="4C8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27939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F6"/>
                </a:solidFill>
                <a:latin typeface="Segoe UI Semibold"/>
              </a:rPr>
              <a:t>T0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57200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Ticket créé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dans GLPI</a:t>
            </a:r>
          </a:p>
        </p:txBody>
      </p:sp>
      <p:sp>
        <p:nvSpPr>
          <p:cNvPr id="55" name="Oval 54"/>
          <p:cNvSpPr/>
          <p:nvPr/>
        </p:nvSpPr>
        <p:spPr>
          <a:xfrm>
            <a:off x="3291840" y="3968496"/>
            <a:ext cx="201168" cy="201168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427939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≤ 10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57200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DAG glpi_polling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→ entrepôt</a:t>
            </a:r>
          </a:p>
        </p:txBody>
      </p:sp>
      <p:sp>
        <p:nvSpPr>
          <p:cNvPr id="58" name="Oval 57"/>
          <p:cNvSpPr/>
          <p:nvPr/>
        </p:nvSpPr>
        <p:spPr>
          <a:xfrm>
            <a:off x="5897880" y="3968496"/>
            <a:ext cx="201168" cy="201168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97880" y="427939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E8"/>
                </a:solidFill>
                <a:latin typeface="Segoe UI Semibold"/>
              </a:rPr>
              <a:t>≤ 1 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457200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DAG ml_inference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→ prédictions + recommandations</a:t>
            </a:r>
          </a:p>
        </p:txBody>
      </p:sp>
      <p:sp>
        <p:nvSpPr>
          <p:cNvPr id="61" name="Oval 60"/>
          <p:cNvSpPr/>
          <p:nvPr/>
        </p:nvSpPr>
        <p:spPr>
          <a:xfrm>
            <a:off x="8778240" y="3968496"/>
            <a:ext cx="201168" cy="201168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427939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D19B"/>
                </a:solidFill>
                <a:latin typeface="Segoe UI Semibold"/>
              </a:rPr>
              <a:t>≤ 10 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457200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Sondage du diffuseur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→ alerte WebSocket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530352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" y="546811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0" i="0">
                <a:solidFill>
                  <a:srgbClr val="F2F6FC"/>
                </a:solidFill>
                <a:latin typeface="Segoe UI"/>
              </a:rPr>
              <a:t>Le point d'architecture essentiel  ·  les échanges Layer 2 → Layer 3 → Layer 4 ne sont pas des appels réseau.</a:t>
            </a:r>
          </a:p>
          <a:p>
            <a:pPr algn="ctr">
              <a:lnSpc>
                <a:spcPct val="124000"/>
              </a:lnSpc>
            </a:pPr>
            <a:r>
              <a:rPr sz="1200" b="0" i="0">
                <a:solidFill>
                  <a:srgbClr val="F2F6FC"/>
                </a:solidFill>
                <a:latin typeface="Segoe UI"/>
              </a:rPr>
              <a:t>Ils passent par la base glpi_dw, qui joue le rôle de bus d'intégration : le contrat entre ces couches est le schéma SQL, pas une signature d'API.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PROTOCOLES ET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Communication entre les composants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17904"/>
            <a:ext cx="10607040" cy="329184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60020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LIAISON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160020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PROTOCOLE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160020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6002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AUTHENTIFICATION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9176" y="16002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D9E8"/>
                </a:solidFill>
                <a:latin typeface="Segoe UI Semibold"/>
              </a:rPr>
              <a:t>FRÉQUENCE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847088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193852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GLPI → 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193852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HTTP/HTTPS  · 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93852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193852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App-Token + Session-Token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19385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toutes les 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6771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1 → Layer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226771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import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6771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list[dict]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2677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2677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à chaque tâche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505456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259689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2 interne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5536" y="25968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Celery sur 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259689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259689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5968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à chaque exécution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29260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2 → 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292608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TCP 5432 · psycopg2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8656" y="292608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29260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utilisateur glpi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29260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toutes les 10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163824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325526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2 → Layer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325526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B14C"/>
                </a:solidFill>
                <a:latin typeface="Segoe UI"/>
              </a:rPr>
              <a:t>base glpi_dw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6" y="325526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tables 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5976" y="325526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325526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asynchrone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" y="35844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3 → 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5536" y="35844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TCP 5432 · psycopg2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6" y="35844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SQL + JSONB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5976" y="35844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utilisateur glpi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58444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toutes les heures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3822192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391363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3 → Layer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45536" y="39136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5B14C"/>
                </a:solidFill>
                <a:latin typeface="Segoe UI"/>
              </a:rPr>
              <a:t>base glpi_dw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48656" y="39136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tables 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5976" y="391363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9176" y="39136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asynchrone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424281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4 → PostgreSQL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45536" y="42428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TCP 5432 · asyncpg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8656" y="4242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5976" y="42428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utilisateur glpi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9176" y="424281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par requête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4480560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" y="45720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4 → Redis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457200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TCP 6379 · async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48656" y="45720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65976" y="457200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09176" y="45720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par requête cachée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" y="490118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4 → Layer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45536" y="49011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HTTP REST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48656" y="490118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JSON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65976" y="49011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Bearer JWT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9176" y="49011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par interaction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5138928"/>
            <a:ext cx="10607040" cy="329184"/>
          </a:xfrm>
          <a:prstGeom prst="rect">
            <a:avLst/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3816" y="52303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Layer 4 → Layer 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45536" y="52303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WebSocket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8656" y="523036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JSON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65976" y="523036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jeton en paramètre d'URL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09176" y="52303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sondage 10 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5541264"/>
            <a:ext cx="10607040" cy="603504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24000"/>
              </a:lnSpc>
            </a:pPr>
            <a:r>
              <a:rPr sz="1150" b="0">
                <a:solidFill>
                  <a:srgbClr val="F2F6FC"/>
                </a:solidFill>
                <a:latin typeface="Segoe UI"/>
              </a:rPr>
              <a:t>Une seule frontière HTTP en amont (GLPI → Layer 1) et une seule en aval (Layer 4 → Layer 5).</a:t>
            </a:r>
          </a:p>
          <a:p>
            <a:pPr algn="ctr">
              <a:lnSpc>
                <a:spcPct val="124000"/>
              </a:lnSpc>
            </a:pPr>
            <a:r>
              <a:rPr sz="1150" b="0">
                <a:solidFill>
                  <a:srgbClr val="F2F6FC"/>
                </a:solidFill>
                <a:latin typeface="Segoe UI"/>
              </a:rPr>
              <a:t>Entre les deux, tout transite par la base de données — d'où un couplage minimal et un découplage temporel complet.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PILE RÉELLEMENT PRÉSENTE DANS LE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481328"/>
            <a:ext cx="925830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Python 3.11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481328"/>
            <a:ext cx="75434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4774" y="1481328"/>
            <a:ext cx="109499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python-dotenv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81208" y="1481328"/>
            <a:ext cx="104241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API REST GLPI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4825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993392"/>
            <a:ext cx="137845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Apache Airflow 2.9.3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1618" y="1993392"/>
            <a:ext cx="635579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Celery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8637" y="1993392"/>
            <a:ext cx="69033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Redis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0413" y="1993392"/>
            <a:ext cx="688050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pandas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3" y="1993392"/>
            <a:ext cx="69265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NumPy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4001" y="1993392"/>
            <a:ext cx="969335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SQLAlchemy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34776" y="1993392"/>
            <a:ext cx="81838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psycopg2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4604" y="1993392"/>
            <a:ext cx="107888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5603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2505456"/>
            <a:ext cx="88228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scikit-learn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5448" y="2505456"/>
            <a:ext cx="761202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XGBoost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58090" y="2505456"/>
            <a:ext cx="726912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Prophet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76442" y="2505456"/>
            <a:ext cx="152697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spaCy fr_core_news_sm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4858" y="2505456"/>
            <a:ext cx="148361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sentence-transformers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9912" y="2505456"/>
            <a:ext cx="980479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PyTorch CPU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1831" y="2505456"/>
            <a:ext cx="87096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MLflow 2.x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04237" y="2505456"/>
            <a:ext cx="740521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PyYAML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07238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3017520"/>
            <a:ext cx="694872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FastAPI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18032" y="3017520"/>
            <a:ext cx="71094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Uvicorn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20418" y="3017520"/>
            <a:ext cx="78638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Gunicorn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98242" y="3017520"/>
            <a:ext cx="1465397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SQLAlchemy 2.x async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79" y="3017520"/>
            <a:ext cx="74066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asyncpg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87183" y="3017520"/>
            <a:ext cx="90982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Pydantic v2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8451" y="3017520"/>
            <a:ext cx="1188755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python-jose JWT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8646" y="3017520"/>
            <a:ext cx="1040165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passlib bcrypt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00251" y="3017520"/>
            <a:ext cx="70637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slowapi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20" y="3401568"/>
            <a:ext cx="93722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Prometheus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9684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31720" y="3913632"/>
            <a:ext cx="971550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Angular 17.3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94710" y="3913632"/>
            <a:ext cx="104916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TypeScript 5.4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35316" y="3913632"/>
            <a:ext cx="54406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RxJS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70824" y="3913632"/>
            <a:ext cx="681228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Signals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492" y="3913632"/>
            <a:ext cx="793313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Chart.js 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28245" y="3913632"/>
            <a:ext cx="969335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ng2-charts 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9020" y="3913632"/>
            <a:ext cx="106527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lucide-angular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45736" y="3913632"/>
            <a:ext cx="941867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SweetAlert2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4805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B14C"/>
                </a:solidFill>
                <a:latin typeface="Segoe UI Semibold"/>
              </a:rPr>
              <a:t>INFRASTRUCTURE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1720" y="4425696"/>
            <a:ext cx="678906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Docker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02066" y="4425696"/>
            <a:ext cx="1193149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docker-compose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6655" y="4425696"/>
            <a:ext cx="813887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9 services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91982" y="4425696"/>
            <a:ext cx="1220724" cy="3108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2F6FC"/>
                </a:solidFill>
                <a:latin typeface="Segoe UI"/>
              </a:rPr>
              <a:t>2 images dédiées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303520"/>
            <a:ext cx="10607040" cy="859536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5431536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Non présent dans le dépôt, contrairement à ce qu'on pourrait supposer :  Kafka · Spark · dbt · Elasticsearch · MongoDB · Power BI · Grafana · Kubernetes · React · Node.js serveur · CI/CD</a:t>
            </a:r>
          </a:p>
          <a:p>
            <a:pPr algn="ctr">
              <a:lnSpc>
                <a:spcPct val="12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Prometheus n'est présent que côté exposition — l'API publie /metrics, mais aucun serveur de collecte n'est déclaré.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MODÈLE ET CIRCULATION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Données et stockage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81328"/>
            <a:ext cx="50292" cy="1298448"/>
          </a:xfrm>
          <a:prstGeom prst="rect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D19B"/>
                </a:solidFill>
                <a:latin typeface="Segoe UI Semibold"/>
              </a:rPr>
              <a:t>LAYER 2 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dim_tickets_enriched  ·  table de faits, 23 colonnes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dim_users · dim_entities · dim_categories · dim_groups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fact_kpis_daily  ·  agrégat quotidien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26080"/>
            <a:ext cx="50292" cy="12984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E8"/>
                </a:solidFill>
                <a:latin typeface="Segoe UI Semibold"/>
              </a:rPr>
              <a:t>LAYER 3  écrit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ml_user_profiles  ·  profil + confiance + snapshot JSONB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ml_forecasts · ml_sla_risk · ml_clusters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9534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recommendations  ·  identifiant = hachage déterministe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70832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70832"/>
            <a:ext cx="50292" cy="1298448"/>
          </a:xfrm>
          <a:prstGeom prst="rect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07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B14C"/>
                </a:solidFill>
                <a:latin typeface="Segoe UI Semibold"/>
              </a:rPr>
              <a:t>LAYER 4  écrit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2803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api_users  ·  comptes et rôles, mots de passe 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recommendation_acks  ·  acquittements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009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B2CC"/>
                </a:solidFill>
                <a:latin typeface="Segoe UI"/>
              </a:rPr>
              <a:t>·  — lit tout le reste, n'écrit jamais ailleurs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48132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SYSTÈMES DE STOCKAGE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810512"/>
            <a:ext cx="3794760" cy="78638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59" y="1911096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PostgreSQL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59" y="2176272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base glpi_dw (entrepôt)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+ base airflow (métabase)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2706624"/>
            <a:ext cx="3794760" cy="78638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9" y="280720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Redis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9" y="3072384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db 0 cache API + broker ETL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db 1 broker Airflow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3602736"/>
            <a:ext cx="3794760" cy="78638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59" y="370332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MLflow / SQLite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9" y="396849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suivi d'expériences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+ registre de modèles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498848"/>
            <a:ext cx="3794760" cy="786384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459943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localStorage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59" y="4864608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jetons, rôle, thème,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préférences côté navigateur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77840"/>
            <a:ext cx="10607040" cy="548640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6FC"/>
                </a:solidFill>
                <a:latin typeface="Segoe UI"/>
              </a:rPr>
              <a:t>Aucun data lake, aucun fichier CSV ou JSON intermédiaire  —  le pipeline est intégralement base-de-données-à-base-de-données, avec des chargements idempotents (ON CONFLICT DO UPDATE) de bout en bout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ROBUSTESSE DE LA CHAÎNE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Sécurité et gestion des erreurs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B14C"/>
                </a:solidFill>
                <a:latin typeface="Segoe UI Semibold"/>
              </a:rPr>
              <a:t>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B14C"/>
                </a:solidFill>
                <a:latin typeface="Segoe UI Semibold"/>
              </a:rPr>
              <a:t>Authentification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GLPI : App-Token + User-Token → Session-Token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API : JWT HS256, accès 30 min, rafraîchissement 7 j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WebSocket : jeton en paramètre d'URL, vérifié avant acceptation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98063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1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B14C"/>
                </a:solidFill>
                <a:latin typeface="Segoe UI Semibold"/>
              </a:rPr>
              <a:t>Autorisation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63823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3 rôles DSI · MANAGER · DIRECTION, contraints en base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require_role() sur chaque point d'entrée de données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Acquittement réservé à DSI et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78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B14C"/>
                </a:solidFill>
                <a:latin typeface="Segoe UI Semibold"/>
              </a:rP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38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Aucun secret en dur : tout vient de .env, protégé par .gitignore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Mots de passe bcrypt, jamais stockés en clair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82893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92621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B14C"/>
                </a:solidFill>
                <a:latin typeface="Segoe UI Semibold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3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Pydantic v2 sur tous les paramètres, avec bornes explicites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Requêtes SQL exclusivement paramétrées — pas d'interpolation de valeurs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4447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GESTION DES ERREURS — UNE STRATÉGIE PAR COUCHE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755648"/>
            <a:ext cx="4846320" cy="7680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470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847088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Réessayer puis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103120"/>
            <a:ext cx="4434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3 tentatives à délai exponentiel · réouverture de session sur 401 · 5 exceptions typées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596896"/>
            <a:ext cx="4846320" cy="7680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6883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688336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Rejouer la tâche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944368"/>
            <a:ext cx="4434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2 réessais Airflow · acquittement Celery tardif · résolution de FK tolérante et tracée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438144"/>
            <a:ext cx="4846320" cy="7680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5295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529584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Dégrader gracieusement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3785616"/>
            <a:ext cx="4434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Un repli par modèle : Prophet → moyenne, XGBoost → taux, spaCy → regex, embeddings → TF-IDF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279392"/>
            <a:ext cx="4846320" cy="7680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43708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3708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Enveloppe uniforme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626864"/>
            <a:ext cx="4434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{error:{code,message,details}} · aucune trace divulguée · panne Redis = cache toujours manquant, jamais 500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5120640"/>
            <a:ext cx="4846320" cy="768096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5212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8D9E8"/>
                </a:solidFill>
                <a:latin typeface="Segoe UI Semibold"/>
              </a:rPr>
              <a:t>Layer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21208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F6FC"/>
                </a:solidFill>
                <a:latin typeface="Segoe UI Semibold"/>
              </a:rPr>
              <a:t>Rester utilisable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5468112"/>
            <a:ext cx="4434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FB2CC"/>
                </a:solidFill>
                <a:latin typeface="Segoe UI"/>
              </a:rPr>
              <a:t>État d'erreur avec bouton de réessai par onglet · rafraîchissement automatique du jeton · reconnexion WebSocket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1675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D19B"/>
                </a:solidFill>
                <a:latin typeface="Segoe UI Semibold"/>
              </a:rPr>
              <a:t>Observabilité  ·  journaux JSON corrélés par X-Request-ID  ·  /health et /health/db  ·  métriques Prometheus  ·  healthchecks Docker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CE QU'IL FAUT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Synthèse de l'architecture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D19B"/>
                </a:solidFill>
                <a:latin typeface="Segoe UI Semibold"/>
              </a:rPr>
              <a:t>FORCES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10512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5564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Couplage minimal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01168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Une seule dépendance d'import entre packages ; L2/L3/L4 dialoguent par la base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532888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47802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Isolation assumée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734056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Deux images Docker et deux jeux de dépendances pour résoudre un conflit SQLAlchemy réel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3255264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20040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Idempotence de bout en 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56432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Tout chargement en ON CONFLICT DO UPDATE ; identifiants de recommandation déterministes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3977640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22776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Dégradation gracieuse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78808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Chaque modèle a un repli ; le cache et les modèles manquants n'interrompent jamais le service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700016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64515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Testabilité par conception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01184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98 tests back-end sans réseau, sans PostgreSQL et sans GPU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5422392"/>
            <a:ext cx="164592" cy="164592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36752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Décisions documentées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62356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Les commentaires du code expliquent le pourquoi de dix choix non évidents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44475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B14C"/>
                </a:solidFill>
                <a:latin typeface="Segoe UI Semibold"/>
              </a:rPr>
              <a:t>POINTS DE VIGILANCE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1810512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175564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Diffuseur WebSocket en mémoire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011680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État par processus — limite l'API à un worker unique pour le temps réel</a:t>
            </a:r>
          </a:p>
        </p:txBody>
      </p:sp>
      <p:sp>
        <p:nvSpPr>
          <p:cNvPr id="32" name="Oval 31"/>
          <p:cNvSpPr/>
          <p:nvPr/>
        </p:nvSpPr>
        <p:spPr>
          <a:xfrm>
            <a:off x="6510528" y="2532888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2478024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Contenu des suivis non persisté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734056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Le NLP travaille sur un texte appauvri (titre + description seulement)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3255264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320040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Composants disponibles mais inactifs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456432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Cache du Layer 2, table fact_kpis_daily, compteur repetitive par utilisateur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3977640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712" y="392277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Secrets de développement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178808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change-me-in-prod, comptes de démonstration, mots de passe PostgreSQL</a:t>
            </a:r>
          </a:p>
        </p:txBody>
      </p:sp>
      <p:sp>
        <p:nvSpPr>
          <p:cNvPr id="41" name="Oval 40"/>
          <p:cNvSpPr/>
          <p:nvPr/>
        </p:nvSpPr>
        <p:spPr>
          <a:xfrm>
            <a:off x="6510528" y="4700016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464515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Absence de CI/CD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901184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Les 98 tests dépendent d'une exécution manuelle</a:t>
            </a:r>
          </a:p>
        </p:txBody>
      </p:sp>
      <p:sp>
        <p:nvSpPr>
          <p:cNvPr id="44" name="Oval 43"/>
          <p:cNvSpPr/>
          <p:nvPr/>
        </p:nvSpPr>
        <p:spPr>
          <a:xfrm>
            <a:off x="6510528" y="5422392"/>
            <a:ext cx="164592" cy="164592"/>
          </a:xfrm>
          <a:prstGeom prst="ellipse">
            <a:avLst/>
          </a:prstGeom>
          <a:solidFill>
            <a:srgbClr val="F5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5367528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F6FC"/>
                </a:solidFill>
                <a:latin typeface="Segoe UI Semibold"/>
              </a:rPr>
              <a:t>Frontend non conteneurisé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623560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Absent du docker-compose — déploiement à la charge de l'exploitant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D9E8"/>
                </a:solidFill>
                <a:latin typeface="Segoe UI Semibold"/>
              </a:rPr>
              <a:t>SYNTHÈSE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2F6FC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822960" cy="41148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37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488A6"/>
                </a:solidFill>
                <a:latin typeface="Segoe UI Semibold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92240"/>
            <a:ext cx="9966960" cy="12801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8A6"/>
                </a:solidFill>
                <a:latin typeface="Segoe UI"/>
              </a:rPr>
              <a:t>GlpiInteligence  ·  Architecture GLPI → Layer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44752"/>
            <a:ext cx="10607040" cy="969264"/>
          </a:xfrm>
          <a:prstGeom prst="roundRect">
            <a:avLst>
              <a:gd name="adj" fmla="val 6000"/>
            </a:avLst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91056"/>
            <a:ext cx="9966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</a:pPr>
            <a:r>
              <a:rPr sz="1250" b="0" i="0">
                <a:solidFill>
                  <a:srgbClr val="F2F6FC"/>
                </a:solidFill>
                <a:latin typeface="Segoe UI"/>
              </a:rPr>
              <a:t>GlpiInteligence est un pipeline analytique et prédictif en cinq couches construit au-dessus de GLPI sans le modifier.</a:t>
            </a:r>
          </a:p>
          <a:p>
            <a:pPr algn="ctr">
              <a:lnSpc>
                <a:spcPct val="126000"/>
              </a:lnSpc>
            </a:pPr>
            <a:r>
              <a:rPr sz="1250" b="0" i="0">
                <a:solidFill>
                  <a:srgbClr val="F2F6FC"/>
                </a:solidFill>
                <a:latin typeface="Segoe UI"/>
              </a:rPr>
              <a:t>L'analyse du code confirme la structure annoncée : extraction fiable, entrepôt dimensionnel idempotent, quatre familles de modèles, API sécurisée, tableau de bord temps réel.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couches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indépendantes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services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conteneurisés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familles de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modèles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points d'entrée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exposés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onglets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analytiques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615184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101F3D"/>
          </a:solidFill>
          <a:ln w="9525">
            <a:solidFill>
              <a:srgbClr val="24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38D9E8"/>
                </a:solidFill>
                <a:latin typeface="Segoe UI Semibold"/>
              </a:rPr>
              <a:t>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1868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tests</a:t>
            </a:r>
          </a:p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9FB2CC"/>
                </a:solidFill>
                <a:latin typeface="Segoe UI"/>
              </a:rPr>
              <a:t>back-end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319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8D9E8"/>
                </a:solidFill>
                <a:latin typeface="Segoe UI Semibold"/>
              </a:rPr>
              <a:t>PRINCIPAUX RÉSULTATS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4325112"/>
            <a:ext cx="137160" cy="13716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26110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Le flux GLPI → Layer 5 est intégralement traçable dans le code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4709160"/>
            <a:ext cx="137160" cy="13716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4645152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Le découplage entre couches est réel et vérifiable, pas seulement déclaratif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5093208"/>
            <a:ext cx="137160" cy="13716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02920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La gestion des erreurs est pensée différemment à chaque étage</a:t>
            </a:r>
          </a:p>
        </p:txBody>
      </p:sp>
      <p:sp>
        <p:nvSpPr>
          <p:cNvPr id="36" name="Oval 35"/>
          <p:cNvSpPr/>
          <p:nvPr/>
        </p:nvSpPr>
        <p:spPr>
          <a:xfrm>
            <a:off x="777240" y="5477256"/>
            <a:ext cx="137160" cy="137160"/>
          </a:xfrm>
          <a:prstGeom prst="ellipse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41324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Les règles métier sont externalisées et modifiables sans redéploiement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9319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D19B"/>
                </a:solidFill>
                <a:latin typeface="Segoe UI Semibold"/>
              </a:rPr>
              <a:t>PERSPECTIVES</a:t>
            </a:r>
          </a:p>
        </p:txBody>
      </p:sp>
      <p:sp>
        <p:nvSpPr>
          <p:cNvPr id="39" name="Oval 38"/>
          <p:cNvSpPr/>
          <p:nvPr/>
        </p:nvSpPr>
        <p:spPr>
          <a:xfrm>
            <a:off x="6537960" y="4325112"/>
            <a:ext cx="137160" cy="137160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42611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Persister le contenu des suivis pour enrichir l'analyse NLP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709160"/>
            <a:ext cx="137160" cy="137160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464515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Passer le diffuseur d'alertes à Redis pub/sub pour le multi-workers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5093208"/>
            <a:ext cx="137160" cy="137160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502920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Durcir la configuration de production : secrets et comptes de démonstration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537960" y="5477256"/>
            <a:ext cx="137160" cy="137160"/>
          </a:xfrm>
          <a:prstGeom prst="ellipse">
            <a:avLst/>
          </a:prstGeom>
          <a:solidFill>
            <a:srgbClr val="5AD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9712" y="541324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FB2CC"/>
                </a:solidFill>
                <a:latin typeface="Segoe UI"/>
              </a:rPr>
              <a:t>Ajouter une chaîne CI/CD exécutant automatiquement les 98 tests existants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943600"/>
            <a:ext cx="10607040" cy="3200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0533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7488A6"/>
                </a:solidFill>
                <a:latin typeface="Segoe UI"/>
              </a:rPr>
              <a:t>Rapport technique détaillé disponible dans report.md  ·  chaque affirmation y est rattachée à son fichier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